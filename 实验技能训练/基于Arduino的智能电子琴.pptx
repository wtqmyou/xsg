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4.pn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image" Target="../media/image8.png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7.png"/><Relationship Id="rId2" Type="http://schemas.openxmlformats.org/officeDocument/2006/relationships/tags" Target="../tags/tag13.xml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3.jpeg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image" Target="../media/image9.png"/><Relationship Id="rId10" Type="http://schemas.openxmlformats.org/officeDocument/2006/relationships/tags" Target="../tags/tag19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image" Target="../media/image10.png"/><Relationship Id="rId2" Type="http://schemas.openxmlformats.org/officeDocument/2006/relationships/tags" Target="../tags/tag22.xml"/><Relationship Id="rId18" Type="http://schemas.openxmlformats.org/officeDocument/2006/relationships/notesSlide" Target="../notesSlides/notesSlide8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3.jpeg"/><Relationship Id="rId15" Type="http://schemas.openxmlformats.org/officeDocument/2006/relationships/tags" Target="../tags/tag34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.jpeg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3" Type="http://schemas.openxmlformats.org/officeDocument/2006/relationships/notesSlide" Target="../notesSlides/notesSlide11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.jpeg"/><Relationship Id="rId10" Type="http://schemas.openxmlformats.org/officeDocument/2006/relationships/tags" Target="../tags/tag51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image" Target="../media/image12.png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image" Target="../media/image11.png"/><Relationship Id="rId2" Type="http://schemas.openxmlformats.org/officeDocument/2006/relationships/tags" Target="../tags/tag52.xml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image" Target="../media/image13.png"/><Relationship Id="rId10" Type="http://schemas.openxmlformats.org/officeDocument/2006/relationships/tags" Target="../tags/tag58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image" Target="../media/image15.png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image" Target="../media/image14.png"/><Relationship Id="rId2" Type="http://schemas.openxmlformats.org/officeDocument/2006/relationships/tags" Target="../tags/tag61.xml"/><Relationship Id="rId19" Type="http://schemas.openxmlformats.org/officeDocument/2006/relationships/notesSlide" Target="../notesSlides/notesSlide14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image" Target="../media/image17.png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image" Target="../media/image16.png"/><Relationship Id="rId10" Type="http://schemas.openxmlformats.org/officeDocument/2006/relationships/tags" Target="../tags/tag67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image" Target="../media/image19.png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image" Target="../media/image18.png"/><Relationship Id="rId20" Type="http://schemas.openxmlformats.org/officeDocument/2006/relationships/notesSlide" Target="../notesSlides/notesSlide15.xml"/><Relationship Id="rId2" Type="http://schemas.openxmlformats.org/officeDocument/2006/relationships/tags" Target="../tags/tag73.xml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3.jpeg"/><Relationship Id="rId17" Type="http://schemas.openxmlformats.org/officeDocument/2006/relationships/tags" Target="../tags/tag84.xml"/><Relationship Id="rId16" Type="http://schemas.openxmlformats.org/officeDocument/2006/relationships/tags" Target="../tags/tag83.xml"/><Relationship Id="rId15" Type="http://schemas.openxmlformats.org/officeDocument/2006/relationships/image" Target="../media/image21.jpeg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image" Target="../media/image20.png"/><Relationship Id="rId10" Type="http://schemas.openxmlformats.org/officeDocument/2006/relationships/tags" Target="../tags/tag79.xml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image" Target="../media/image23.png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image" Target="../media/image22.png"/><Relationship Id="rId2" Type="http://schemas.openxmlformats.org/officeDocument/2006/relationships/tags" Target="../tags/tag85.xml"/><Relationship Id="rId12" Type="http://schemas.openxmlformats.org/officeDocument/2006/relationships/notesSlide" Target="../notesSlides/notesSlide1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.jpeg"/><Relationship Id="rId1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4" Type="http://schemas.openxmlformats.org/officeDocument/2006/relationships/notesSlide" Target="../notesSlides/notesSlide18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基于Arduino的智能电子琴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endParaRPr lang="en-US" sz="225" dirty="0"/>
          </a:p>
        </p:txBody>
      </p:sp>
      <p:sp>
        <p:nvSpPr>
          <p:cNvPr id="5" name="Shape 2"/>
          <p:cNvSpPr/>
          <p:nvPr/>
        </p:nvSpPr>
        <p:spPr>
          <a:xfrm>
            <a:off x="571500" y="2976563"/>
            <a:ext cx="604838" cy="114300"/>
          </a:xfrm>
          <a:prstGeom prst="rect">
            <a:avLst/>
          </a:prstGeom>
          <a:solidFill>
            <a:srgbClr val="5438FF"/>
          </a:solidFill>
        </p:spPr>
      </p:sp>
      <p:sp>
        <p:nvSpPr>
          <p:cNvPr id="6" name="Text 3"/>
          <p:cNvSpPr/>
          <p:nvPr/>
        </p:nvSpPr>
        <p:spPr>
          <a:xfrm>
            <a:off x="571500" y="3335655"/>
            <a:ext cx="3737610" cy="15163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725"/>
              </a:lnSpc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徐绍刚</a:t>
            </a:r>
            <a:r>
              <a:rPr lang="en-US" altLang="zh-CN" sz="2800" dirty="0"/>
              <a:t>   3240103151</a:t>
            </a:r>
            <a:endParaRPr lang="en-US" altLang="zh-CN" sz="2800" dirty="0"/>
          </a:p>
          <a:p>
            <a:pPr marL="0" indent="0" algn="l">
              <a:lnSpc>
                <a:spcPts val="1725"/>
              </a:lnSpc>
              <a:buNone/>
            </a:pPr>
            <a:endParaRPr lang="en-US" altLang="zh-CN" sz="2800" dirty="0"/>
          </a:p>
          <a:p>
            <a:pPr marL="0" indent="0" algn="l">
              <a:lnSpc>
                <a:spcPts val="1725"/>
              </a:lnSpc>
              <a:buNone/>
            </a:pP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l">
              <a:lnSpc>
                <a:spcPts val="1725"/>
              </a:lnSpc>
              <a:buNone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胡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</a:t>
            </a:r>
            <a:r>
              <a:rPr lang="en-US" altLang="zh-CN" sz="2800" dirty="0"/>
              <a:t>   3240103159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46" r="46"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98821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543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10596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章节一: 项目概述与需求分析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13073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61686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543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16883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章节二: 设计目标与系统组成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90975" y="19359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224551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543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3169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章节三: 硬件与软件设计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990975" y="25646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24250" y="287416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543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90975" y="29456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章节四: 测试验证与调试过程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990975" y="31932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350281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543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3990975" y="35742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章节五: 项目优势与结论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990975" y="38219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章节一: 项目概述与需求分析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666666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项目背景及意义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2063115"/>
            <a:ext cx="8382000" cy="194310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3"/>
            </p:custDataLst>
          </p:nvPr>
        </p:nvSpPr>
        <p:spPr>
          <a:xfrm>
            <a:off x="1766888" y="2807494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>
            <p:custDataLst>
              <p:tags r:id="rId4"/>
            </p:custDataLst>
          </p:nvPr>
        </p:nvSpPr>
        <p:spPr>
          <a:xfrm>
            <a:off x="1085850" y="3198019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探索嵌入式技术</a:t>
            </a:r>
            <a:endParaRPr lang="en-US" sz="1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5"/>
          <p:cNvSpPr/>
          <p:nvPr>
            <p:custDataLst>
              <p:tags r:id="rId5"/>
            </p:custDataLst>
          </p:nvPr>
        </p:nvSpPr>
        <p:spPr>
          <a:xfrm>
            <a:off x="1085850" y="3488690"/>
            <a:ext cx="1628775" cy="5175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研究嵌入式技术在教育与娱乐领域的应用。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6"/>
          <p:cNvSpPr/>
          <p:nvPr>
            <p:custDataLst>
              <p:tags r:id="rId6"/>
            </p:custDataLst>
          </p:nvPr>
        </p:nvSpPr>
        <p:spPr>
          <a:xfrm>
            <a:off x="3548062" y="2807494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991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>
            <p:custDataLst>
              <p:tags r:id="rId7"/>
            </p:custDataLst>
          </p:nvPr>
        </p:nvSpPr>
        <p:spPr>
          <a:xfrm>
            <a:off x="2867025" y="3198019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传感器技术应用</a:t>
            </a:r>
            <a:endParaRPr lang="en-US" sz="1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8"/>
          <p:cNvSpPr/>
          <p:nvPr>
            <p:custDataLst>
              <p:tags r:id="rId8"/>
            </p:custDataLst>
          </p:nvPr>
        </p:nvSpPr>
        <p:spPr>
          <a:xfrm>
            <a:off x="2867025" y="3488690"/>
            <a:ext cx="1628775" cy="56705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利用传感器技术实现精准控制与反馈。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9"/>
          <p:cNvSpPr/>
          <p:nvPr>
            <p:custDataLst>
              <p:tags r:id="rId9"/>
            </p:custDataLst>
          </p:nvPr>
        </p:nvSpPr>
        <p:spPr>
          <a:xfrm>
            <a:off x="5329238" y="2807494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>
            <p:custDataLst>
              <p:tags r:id="rId10"/>
            </p:custDataLst>
          </p:nvPr>
        </p:nvSpPr>
        <p:spPr>
          <a:xfrm>
            <a:off x="4648200" y="3198019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音乐系统融合</a:t>
            </a:r>
            <a:endParaRPr lang="en-US" sz="1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11"/>
            </p:custDataLst>
          </p:nvPr>
        </p:nvSpPr>
        <p:spPr>
          <a:xfrm>
            <a:off x="4648200" y="3488531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将教育与娱乐融合于音乐系统中。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2"/>
          <p:cNvSpPr/>
          <p:nvPr>
            <p:custDataLst>
              <p:tags r:id="rId12"/>
            </p:custDataLst>
          </p:nvPr>
        </p:nvSpPr>
        <p:spPr>
          <a:xfrm>
            <a:off x="7110413" y="2807494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991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>
            <p:custDataLst>
              <p:tags r:id="rId13"/>
            </p:custDataLst>
          </p:nvPr>
        </p:nvSpPr>
        <p:spPr>
          <a:xfrm>
            <a:off x="6429375" y="3198019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提升用户体验</a:t>
            </a:r>
            <a:endParaRPr lang="en-US" sz="1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4"/>
          <p:cNvSpPr/>
          <p:nvPr>
            <p:custDataLst>
              <p:tags r:id="rId14"/>
            </p:custDataLst>
          </p:nvPr>
        </p:nvSpPr>
        <p:spPr>
          <a:xfrm>
            <a:off x="6429375" y="3488531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打造沉浸式智能音乐系统，激发用户创造力。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-66675" y="0"/>
            <a:ext cx="9144000" cy="680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19685"/>
            <a:ext cx="8001000" cy="600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功能需求</a:t>
            </a:r>
            <a:endParaRPr lang="en-US" sz="2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719455"/>
            <a:ext cx="8382000" cy="4305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2513" y="2643505"/>
            <a:ext cx="150495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高质量音频系统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3662363" y="862330"/>
            <a:ext cx="13716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9642D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音频播放与录制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491163" y="719455"/>
            <a:ext cx="24384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支持音频播放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5491163" y="1081405"/>
            <a:ext cx="24384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支持音频录制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662363" y="1586230"/>
            <a:ext cx="13716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9912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教育与娱乐需求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491163" y="1443355"/>
            <a:ext cx="20383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满足教育场景下的音频需求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491163" y="1805305"/>
            <a:ext cx="20383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满足娱乐场景下的音频需求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662363" y="2310130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用户界面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043488" y="2167255"/>
            <a:ext cx="23050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提供直观界面供用户选择播放模式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043488" y="2529205"/>
            <a:ext cx="23050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系统实时反馈工作状态，提升用户体验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662363" y="3034030"/>
            <a:ext cx="94297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DBEB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LED指示灯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062538" y="2891155"/>
            <a:ext cx="24098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集成LED指示灯，清晰指示系统运行状态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062538" y="3253105"/>
            <a:ext cx="24098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便于用户即时了解系统操作情况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3662363" y="3757930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9559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系统功能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043488" y="3615055"/>
            <a:ext cx="16859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支持多种播放模式选择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043488" y="3977005"/>
            <a:ext cx="16859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提供实时工作状态反馈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662363" y="4481830"/>
            <a:ext cx="923925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用户体验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5043488" y="4338955"/>
            <a:ext cx="16859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通过直观界面提升用户体验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043488" y="4700905"/>
            <a:ext cx="168592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通过实时反馈提升用户体验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1648" r="11648"/>
          <a:stretch>
            <a:fillRect/>
          </a:stretch>
        </p:blipFill>
        <p:spPr>
          <a:xfrm>
            <a:off x="27940" y="-111125"/>
            <a:ext cx="9144000" cy="5254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15430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169737" y="1513205"/>
            <a:ext cx="2890072" cy="3191400"/>
          </a:xfrm>
          <a:prstGeom prst="rect">
            <a:avLst/>
          </a:prstGeom>
        </p:spPr>
      </p:pic>
      <p:sp>
        <p:nvSpPr>
          <p:cNvPr id="8" name="Text 3"/>
          <p:cNvSpPr/>
          <p:nvPr>
            <p:custDataLst>
              <p:tags r:id="rId4"/>
            </p:custDataLst>
          </p:nvPr>
        </p:nvSpPr>
        <p:spPr>
          <a:xfrm>
            <a:off x="740410" y="2672715"/>
            <a:ext cx="1569720" cy="24320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超声波测距范围</a:t>
            </a:r>
            <a:endParaRPr 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4"/>
          <p:cNvSpPr/>
          <p:nvPr>
            <p:custDataLst>
              <p:tags r:id="rId5"/>
            </p:custDataLst>
          </p:nvPr>
        </p:nvSpPr>
        <p:spPr>
          <a:xfrm>
            <a:off x="740410" y="3073400"/>
            <a:ext cx="1805305" cy="128016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超声波传感器有效测距2cm至16cm，满足近距离互动需求。</a:t>
            </a:r>
            <a:endParaRPr lang="en-US" sz="2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2862786" y="1543050"/>
            <a:ext cx="2901051" cy="3204210"/>
          </a:xfrm>
          <a:prstGeom prst="rect">
            <a:avLst/>
          </a:prstGeom>
        </p:spPr>
      </p:pic>
      <p:sp>
        <p:nvSpPr>
          <p:cNvPr id="11" name="Text 5"/>
          <p:cNvSpPr/>
          <p:nvPr>
            <p:custDataLst>
              <p:tags r:id="rId8"/>
            </p:custDataLst>
          </p:nvPr>
        </p:nvSpPr>
        <p:spPr>
          <a:xfrm>
            <a:off x="3491554" y="2672899"/>
            <a:ext cx="1297216" cy="24294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测量</a:t>
            </a: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误差控制</a:t>
            </a:r>
            <a:endParaRPr lang="en-US" sz="1600" dirty="0"/>
          </a:p>
        </p:txBody>
      </p:sp>
      <p:sp>
        <p:nvSpPr>
          <p:cNvPr id="12" name="Text 6"/>
          <p:cNvSpPr/>
          <p:nvPr>
            <p:custDataLst>
              <p:tags r:id="rId9"/>
            </p:custDataLst>
          </p:nvPr>
        </p:nvSpPr>
        <p:spPr>
          <a:xfrm>
            <a:off x="3428365" y="3073400"/>
            <a:ext cx="1950720" cy="131254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误差小于</a:t>
            </a:r>
            <a:r>
              <a:rPr lang="zh-CN" altLang="en-US" sz="2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±</a:t>
            </a:r>
            <a:r>
              <a:rPr lang="en-US" altLang="zh-CN" sz="2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1cm</a:t>
            </a:r>
            <a:r>
              <a:rPr lang="en-US" sz="2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，确保距离测量的高精度与可靠性。</a:t>
            </a:r>
            <a:endParaRPr lang="en-US" sz="2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7245" t="2760" r="6605" b="4380"/>
          <a:stretch>
            <a:fillRect/>
          </a:stretch>
        </p:blipFill>
        <p:spPr>
          <a:xfrm>
            <a:off x="5823585" y="1630045"/>
            <a:ext cx="2476500" cy="2948305"/>
          </a:xfrm>
          <a:prstGeom prst="rect">
            <a:avLst/>
          </a:prstGeom>
        </p:spPr>
      </p:pic>
      <p:sp>
        <p:nvSpPr>
          <p:cNvPr id="14" name="Text 7"/>
          <p:cNvSpPr/>
          <p:nvPr>
            <p:custDataLst>
              <p:tags r:id="rId12"/>
            </p:custDataLst>
          </p:nvPr>
        </p:nvSpPr>
        <p:spPr>
          <a:xfrm>
            <a:off x="6080988" y="2672899"/>
            <a:ext cx="1297216" cy="24294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响应时间优化</a:t>
            </a:r>
            <a:endParaRPr lang="en-US" sz="1600" dirty="0"/>
          </a:p>
        </p:txBody>
      </p:sp>
      <p:sp>
        <p:nvSpPr>
          <p:cNvPr id="15" name="Text 8"/>
          <p:cNvSpPr/>
          <p:nvPr>
            <p:custDataLst>
              <p:tags r:id="rId13"/>
            </p:custDataLst>
          </p:nvPr>
        </p:nvSpPr>
        <p:spPr>
          <a:xfrm>
            <a:off x="6081395" y="3073400"/>
            <a:ext cx="2199005" cy="12807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响应时间≤300ms，</a:t>
            </a:r>
            <a:r>
              <a:rPr lang="zh-CN" altLang="en-US" sz="2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模式切换延迟</a:t>
            </a:r>
            <a:r>
              <a:rPr lang="en-US" altLang="zh-CN" sz="2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≤500 ms</a:t>
            </a:r>
            <a:r>
              <a:rPr lang="en-US" sz="2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快速反馈，提升用户体验与系统响应性。</a:t>
            </a:r>
            <a:endParaRPr lang="en-US" sz="20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4"/>
          <a:srcRect l="9302" r="9302"/>
          <a:stretch>
            <a:fillRect/>
          </a:stretch>
        </p:blipFill>
        <p:spPr>
          <a:xfrm>
            <a:off x="0" y="-139700"/>
            <a:ext cx="9144000" cy="8439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6740" y="-71120"/>
            <a:ext cx="4038600" cy="7753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性能需求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章节二: 设计目标与系统组成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666666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504" r="504"/>
          <a:stretch>
            <a:fillRect/>
          </a:stretch>
        </p:blipFill>
        <p:spPr>
          <a:xfrm>
            <a:off x="6985" y="0"/>
            <a:ext cx="9143365" cy="51263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500" y="2176145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251071" y="991980"/>
            <a:ext cx="8640834" cy="327468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454025" y="3308928"/>
            <a:ext cx="2435144" cy="260207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系统切换成功率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454025" y="3608412"/>
            <a:ext cx="2435144" cy="471318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确保系统模式切换的成功率超过99%，减少错误发生，提供顺畅的用户体验。</a:t>
            </a:r>
            <a:endParaRPr lang="en-US" sz="1050" dirty="0"/>
          </a:p>
        </p:txBody>
      </p:sp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454025" y="2204277"/>
            <a:ext cx="2435144" cy="260207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超声波测距精度</a:t>
            </a:r>
            <a:endParaRPr lang="en-US" sz="1200" dirty="0"/>
          </a:p>
        </p:txBody>
      </p:sp>
      <p:sp>
        <p:nvSpPr>
          <p:cNvPr id="10" name="Text 6"/>
          <p:cNvSpPr/>
          <p:nvPr>
            <p:custDataLst>
              <p:tags r:id="rId7"/>
            </p:custDataLst>
          </p:nvPr>
        </p:nvSpPr>
        <p:spPr>
          <a:xfrm>
            <a:off x="454025" y="2503760"/>
            <a:ext cx="2435144" cy="68733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将超声波测距的误差控制在±1cm以内，同时保证响应时间不超过300ms，增强交互的即时性和准确性。</a:t>
            </a:r>
            <a:endParaRPr lang="en-US" sz="1050" dirty="0"/>
          </a:p>
        </p:txBody>
      </p:sp>
      <p:sp>
        <p:nvSpPr>
          <p:cNvPr id="11" name="Text 7"/>
          <p:cNvSpPr/>
          <p:nvPr>
            <p:custDataLst>
              <p:tags r:id="rId8"/>
            </p:custDataLst>
          </p:nvPr>
        </p:nvSpPr>
        <p:spPr>
          <a:xfrm>
            <a:off x="454025" y="1099624"/>
            <a:ext cx="2435144" cy="260207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音频播放质量</a:t>
            </a:r>
            <a:endParaRPr lang="en-US" sz="1200" dirty="0"/>
          </a:p>
        </p:txBody>
      </p:sp>
      <p:sp>
        <p:nvSpPr>
          <p:cNvPr id="12" name="Text 8"/>
          <p:cNvSpPr/>
          <p:nvPr>
            <p:custDataLst>
              <p:tags r:id="rId9"/>
            </p:custDataLst>
          </p:nvPr>
        </p:nvSpPr>
        <p:spPr>
          <a:xfrm>
            <a:off x="454025" y="1399108"/>
            <a:ext cx="2435144" cy="68733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实现音频播放的无卡顿。</a:t>
            </a:r>
            <a:endParaRPr lang="en-US" sz="1050" dirty="0"/>
          </a:p>
        </p:txBody>
      </p:sp>
      <p:sp>
        <p:nvSpPr>
          <p:cNvPr id="13" name="Text 9"/>
          <p:cNvSpPr/>
          <p:nvPr>
            <p:custDataLst>
              <p:tags r:id="rId10"/>
            </p:custDataLst>
          </p:nvPr>
        </p:nvSpPr>
        <p:spPr>
          <a:xfrm>
            <a:off x="6217854" y="991614"/>
            <a:ext cx="2435144" cy="260207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用户体验流畅</a:t>
            </a:r>
            <a:endParaRPr lang="en-US" sz="1200" dirty="0"/>
          </a:p>
        </p:txBody>
      </p:sp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6217854" y="1291098"/>
            <a:ext cx="2435144" cy="68733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通过提高系统切换成功率、超声波测距精度及音频播放质量，全面保障用户体验的流畅性。</a:t>
            </a:r>
            <a:endParaRPr lang="en-US" sz="1050" dirty="0"/>
          </a:p>
        </p:txBody>
      </p:sp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6217854" y="2096266"/>
            <a:ext cx="2435144" cy="260207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响应时间优化</a:t>
            </a:r>
            <a:endParaRPr lang="en-US" sz="1200" dirty="0"/>
          </a:p>
        </p:txBody>
      </p:sp>
      <p:sp>
        <p:nvSpPr>
          <p:cNvPr id="16" name="Text 12"/>
          <p:cNvSpPr/>
          <p:nvPr>
            <p:custDataLst>
              <p:tags r:id="rId13"/>
            </p:custDataLst>
          </p:nvPr>
        </p:nvSpPr>
        <p:spPr>
          <a:xfrm>
            <a:off x="6217854" y="2395749"/>
            <a:ext cx="2435144" cy="68733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缩短超声波测距的响应时间至300ms以下，快速响应用户操作，提升使用体验。</a:t>
            </a:r>
            <a:endParaRPr lang="en-US" sz="1050" dirty="0"/>
          </a:p>
        </p:txBody>
      </p:sp>
      <p:sp>
        <p:nvSpPr>
          <p:cNvPr id="17" name="Text 13"/>
          <p:cNvSpPr/>
          <p:nvPr>
            <p:custDataLst>
              <p:tags r:id="rId14"/>
            </p:custDataLst>
          </p:nvPr>
        </p:nvSpPr>
        <p:spPr>
          <a:xfrm>
            <a:off x="6217854" y="3200918"/>
            <a:ext cx="2435144" cy="260207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音质清晰度提升</a:t>
            </a:r>
            <a:endParaRPr lang="en-US" sz="1200" dirty="0"/>
          </a:p>
        </p:txBody>
      </p:sp>
      <p:sp>
        <p:nvSpPr>
          <p:cNvPr id="18" name="Text 14"/>
          <p:cNvSpPr/>
          <p:nvPr>
            <p:custDataLst>
              <p:tags r:id="rId15"/>
            </p:custDataLst>
          </p:nvPr>
        </p:nvSpPr>
        <p:spPr>
          <a:xfrm>
            <a:off x="6217854" y="3500402"/>
            <a:ext cx="2435144" cy="68733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确保音频播放无任何卡顿现象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zh-CN" altLang="en-US" sz="10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16"/>
          <a:srcRect l="9302" r="9302"/>
          <a:stretch>
            <a:fillRect/>
          </a:stretch>
        </p:blipFill>
        <p:spPr>
          <a:xfrm>
            <a:off x="0" y="0"/>
            <a:ext cx="9144000" cy="680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4025" y="-5969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设计目标（性能指标）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3"/>
          <p:cNvSpPr/>
          <p:nvPr>
            <p:custDataLst>
              <p:tags r:id="rId2"/>
            </p:custDataLst>
          </p:nvPr>
        </p:nvSpPr>
        <p:spPr>
          <a:xfrm>
            <a:off x="571500" y="24003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核心控制器</a:t>
            </a:r>
            <a:endParaRPr lang="en-US" sz="1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571500" y="2647950"/>
            <a:ext cx="1714500" cy="97345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Arduino Uno作为大脑，协调各模块工作，实现智能化控制。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2667000" y="24003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输入模块</a:t>
            </a:r>
            <a:endParaRPr lang="en-US" sz="1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2667000" y="2647950"/>
            <a:ext cx="1714500" cy="97345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集成超声波传感器，用于距离检测，旋转编码器控制模式切换。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4762500" y="24003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输出模块</a:t>
            </a:r>
            <a:endParaRPr lang="en-US" sz="1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8"/>
          <p:cNvSpPr/>
          <p:nvPr>
            <p:custDataLst>
              <p:tags r:id="rId7"/>
            </p:custDataLst>
          </p:nvPr>
        </p:nvSpPr>
        <p:spPr>
          <a:xfrm>
            <a:off x="4762500" y="2647950"/>
            <a:ext cx="1714500" cy="97345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OLED显示屏显示状态信息，扬声器负责音频输出。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9"/>
          <p:cNvSpPr/>
          <p:nvPr>
            <p:custDataLst>
              <p:tags r:id="rId8"/>
            </p:custDataLst>
          </p:nvPr>
        </p:nvSpPr>
        <p:spPr>
          <a:xfrm>
            <a:off x="6858000" y="24003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控制模块</a:t>
            </a:r>
            <a:endParaRPr lang="en-US" sz="14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10"/>
          <p:cNvSpPr/>
          <p:nvPr>
            <p:custDataLst>
              <p:tags r:id="rId9"/>
            </p:custDataLst>
          </p:nvPr>
        </p:nvSpPr>
        <p:spPr>
          <a:xfrm>
            <a:off x="6858000" y="2647950"/>
            <a:ext cx="1714500" cy="97409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精密电路设计，确保信号处理与反馈机制的高效运行。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0"/>
          <a:srcRect l="9302" r="9302"/>
          <a:stretch>
            <a:fillRect/>
          </a:stretch>
        </p:blipFill>
        <p:spPr>
          <a:xfrm>
            <a:off x="0" y="0"/>
            <a:ext cx="9144000" cy="680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6720" y="44450"/>
            <a:ext cx="8001000" cy="63627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系统组成</a:t>
            </a:r>
            <a:endParaRPr lang="en-US" sz="2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章节三: 硬件与软件设计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666666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435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872" r="1872"/>
          <a:stretch>
            <a:fillRect/>
          </a:stretch>
        </p:blipFill>
        <p:spPr>
          <a:xfrm>
            <a:off x="12700" y="6350"/>
            <a:ext cx="9144000" cy="53435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29125" y="194310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>
            <p:custDataLst>
              <p:tags r:id="rId2"/>
            </p:custDataLst>
          </p:nvPr>
        </p:nvSpPr>
        <p:spPr>
          <a:xfrm>
            <a:off x="401320" y="2343150"/>
            <a:ext cx="1143635" cy="2139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543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600" b="1" dirty="0">
              <a:solidFill>
                <a:srgbClr val="5438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4"/>
          <p:cNvSpPr/>
          <p:nvPr>
            <p:custDataLst>
              <p:tags r:id="rId3"/>
            </p:custDataLst>
          </p:nvPr>
        </p:nvSpPr>
        <p:spPr>
          <a:xfrm>
            <a:off x="385445" y="2672080"/>
            <a:ext cx="188976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核心元件概览</a:t>
            </a:r>
            <a:endParaRPr lang="en-US" sz="1200" dirty="0"/>
          </a:p>
        </p:txBody>
      </p:sp>
      <p:sp>
        <p:nvSpPr>
          <p:cNvPr id="9" name="Text 5"/>
          <p:cNvSpPr/>
          <p:nvPr>
            <p:custDataLst>
              <p:tags r:id="rId4"/>
            </p:custDataLst>
          </p:nvPr>
        </p:nvSpPr>
        <p:spPr>
          <a:xfrm>
            <a:off x="347345" y="2919095"/>
            <a:ext cx="2338070" cy="113411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本设计采用Arduino Uno为核心，集成超声波传感器、OLED显示屏与旋转编码器，构建交互式音乐系统。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6"/>
          <p:cNvSpPr/>
          <p:nvPr>
            <p:custDataLst>
              <p:tags r:id="rId5"/>
            </p:custDataLst>
          </p:nvPr>
        </p:nvSpPr>
        <p:spPr>
          <a:xfrm>
            <a:off x="3409315" y="2343150"/>
            <a:ext cx="991235" cy="2139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543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600" b="1" dirty="0">
              <a:solidFill>
                <a:srgbClr val="5438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7"/>
          <p:cNvSpPr/>
          <p:nvPr>
            <p:custDataLst>
              <p:tags r:id="rId6"/>
            </p:custDataLst>
          </p:nvPr>
        </p:nvSpPr>
        <p:spPr>
          <a:xfrm>
            <a:off x="3400425" y="2672080"/>
            <a:ext cx="14319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超声波模块</a:t>
            </a:r>
            <a:endParaRPr lang="en-US" sz="1200" dirty="0"/>
          </a:p>
        </p:txBody>
      </p:sp>
      <p:sp>
        <p:nvSpPr>
          <p:cNvPr id="12" name="Text 8"/>
          <p:cNvSpPr/>
          <p:nvPr>
            <p:custDataLst>
              <p:tags r:id="rId7"/>
            </p:custDataLst>
          </p:nvPr>
        </p:nvSpPr>
        <p:spPr>
          <a:xfrm>
            <a:off x="3411220" y="2919095"/>
            <a:ext cx="1823085" cy="113411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超声波传感器用于测距，实现非接触式控制，提升用户体验与安全性。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9"/>
          <p:cNvSpPr/>
          <p:nvPr>
            <p:custDataLst>
              <p:tags r:id="rId8"/>
            </p:custDataLst>
          </p:nvPr>
        </p:nvSpPr>
        <p:spPr>
          <a:xfrm>
            <a:off x="5964555" y="2342515"/>
            <a:ext cx="1624965" cy="21526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543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600" b="1" dirty="0">
              <a:solidFill>
                <a:srgbClr val="5438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0"/>
          <p:cNvSpPr/>
          <p:nvPr>
            <p:custDataLst>
              <p:tags r:id="rId9"/>
            </p:custDataLst>
          </p:nvPr>
        </p:nvSpPr>
        <p:spPr>
          <a:xfrm>
            <a:off x="5960110" y="2672715"/>
            <a:ext cx="2109470" cy="2082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显示与控制</a:t>
            </a:r>
            <a:endParaRPr lang="en-US" sz="1200" dirty="0"/>
          </a:p>
        </p:txBody>
      </p:sp>
      <p:sp>
        <p:nvSpPr>
          <p:cNvPr id="15" name="Text 11"/>
          <p:cNvSpPr/>
          <p:nvPr>
            <p:custDataLst>
              <p:tags r:id="rId10"/>
            </p:custDataLst>
          </p:nvPr>
        </p:nvSpPr>
        <p:spPr>
          <a:xfrm>
            <a:off x="5964555" y="2919095"/>
            <a:ext cx="1913890" cy="11334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OLED显示屏呈现系统状态，旋转编码器简化操作流程，确保直观反馈与便捷控制。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1"/>
          <a:srcRect l="9302" r="9302"/>
          <a:stretch>
            <a:fillRect/>
          </a:stretch>
        </p:blipFill>
        <p:spPr>
          <a:xfrm>
            <a:off x="12700" y="6350"/>
            <a:ext cx="9144000" cy="680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01320" y="6350"/>
            <a:ext cx="8082280" cy="673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硬件系统设计</a:t>
            </a:r>
            <a:endParaRPr lang="en-US" sz="2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5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软件系统设计：采用的模块化设计方案，涵盖模式控制、传感器处理、音频处理等关键模块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400050" y="1847850"/>
            <a:ext cx="2085975" cy="2338388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752475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模块化设计原则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752475" y="2919412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采用模块化设计，确保各功能独立，易于维护与升级，提高系统整体稳定性。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3446145" y="1847850"/>
            <a:ext cx="2085975" cy="2338388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3798570" y="262890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模式控制模块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3798570" y="2919412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实现系统模式切换，包括播放、录音等功能，通过用户界面友好交互。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6188075" y="1847850"/>
            <a:ext cx="2085975" cy="2338388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6540500" y="2628741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传感器处理模块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6492240" y="2988469"/>
            <a:ext cx="138112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负责超声波测距数据采集与解析，确保距离测量的准确性和实时性。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章节四: 测试验证与调试过程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666666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测试方案及条件：硬件、功能、性能测试的具体方法与环境要求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1190625" y="240030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571500" y="29908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硬件测试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571500" y="3238500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采用专用工具检查电路连接，确保无短路或断路现象，同时在标准温度湿度下进行稳定性测试。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3286125" y="240030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2667000" y="29908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功能测试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2667000" y="3238500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逐一验证播放、录音、模式控制等功能，确保所有操作流畅无误，满足用户交互需求。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5381625" y="240030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4762500" y="29908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性能测试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4762500" y="3238500"/>
            <a:ext cx="17145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测量超声波测距精度与响应时间，评估系统切换成功率，确保性能指标符合设计要求。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/>
          <a:stretch>
            <a:fillRect/>
          </a:stretch>
        </p:blipFill>
        <p:spPr>
          <a:xfrm>
            <a:off x="7477125" y="2400300"/>
            <a:ext cx="476250" cy="476250"/>
          </a:xfrm>
          <a:prstGeom prst="rect">
            <a:avLst/>
          </a:prstGeom>
        </p:spPr>
      </p:pic>
      <p:sp>
        <p:nvSpPr>
          <p:cNvPr id="16" name="Text 9"/>
          <p:cNvSpPr/>
          <p:nvPr>
            <p:custDataLst>
              <p:tags r:id="rId16"/>
            </p:custDataLst>
          </p:nvPr>
        </p:nvSpPr>
        <p:spPr>
          <a:xfrm>
            <a:off x="6858000" y="299085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环境要求</a:t>
            </a:r>
            <a:endParaRPr lang="en-US" sz="1200" dirty="0"/>
          </a:p>
        </p:txBody>
      </p:sp>
      <p:sp>
        <p:nvSpPr>
          <p:cNvPr id="17" name="Text 10"/>
          <p:cNvSpPr/>
          <p:nvPr>
            <p:custDataLst>
              <p:tags r:id="rId17"/>
            </p:custDataLst>
          </p:nvPr>
        </p:nvSpPr>
        <p:spPr>
          <a:xfrm>
            <a:off x="6858000" y="3238500"/>
            <a:ext cx="17145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测试在静音室进行，避免外界干扰，确保测试数据的准确性与可靠性。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350" y="0"/>
            <a:ext cx="9144000" cy="514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8333" b="8333"/>
          <a:stretch>
            <a:fillRect/>
          </a:stretch>
        </p:blipFill>
        <p:spPr>
          <a:xfrm>
            <a:off x="571500" y="1311275"/>
            <a:ext cx="1714500" cy="14287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666750" y="2930525"/>
            <a:ext cx="1524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电路调试成效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666750" y="3178175"/>
            <a:ext cx="1524000" cy="1047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电路调试结果显示，所有模块均能稳定工作，超声波传感器在不同距离下测量准确，误差控制在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±</a:t>
            </a:r>
            <a:r>
              <a:rPr lang="en-US" altLang="zh-CN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1cm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以内。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8333" b="8333"/>
          <a:stretch>
            <a:fillRect/>
          </a:stretch>
        </p:blipFill>
        <p:spPr>
          <a:xfrm>
            <a:off x="2667000" y="1311275"/>
            <a:ext cx="1714500" cy="142875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2762250" y="2930525"/>
            <a:ext cx="1524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功能模块测试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2762250" y="3178175"/>
            <a:ext cx="1524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播放与录音功能流畅无阻，模式切换成功率高达99%，满足设计预期，用户体验良好。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t="8333" b="8333"/>
          <a:stretch>
            <a:fillRect/>
          </a:stretch>
        </p:blipFill>
        <p:spPr>
          <a:xfrm>
            <a:off x="4762500" y="1311275"/>
            <a:ext cx="1714500" cy="142875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4857750" y="2930525"/>
            <a:ext cx="1524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性能指标达标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4857750" y="3178175"/>
            <a:ext cx="1524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系统响应时间小于1秒，超声波测距范围符合标准，整体性能稳定，未出现明显延迟或故障。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 t="8333" b="8333"/>
          <a:stretch>
            <a:fillRect/>
          </a:stretch>
        </p:blipFill>
        <p:spPr>
          <a:xfrm>
            <a:off x="6858000" y="1311275"/>
            <a:ext cx="1714500" cy="1428750"/>
          </a:xfrm>
          <a:prstGeom prst="rect">
            <a:avLst/>
          </a:prstGeom>
        </p:spPr>
      </p:pic>
      <p:sp>
        <p:nvSpPr>
          <p:cNvPr id="16" name="Text 9"/>
          <p:cNvSpPr/>
          <p:nvPr>
            <p:custDataLst>
              <p:tags r:id="rId16"/>
            </p:custDataLst>
          </p:nvPr>
        </p:nvSpPr>
        <p:spPr>
          <a:xfrm>
            <a:off x="6953250" y="2930525"/>
            <a:ext cx="1524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调试分析与优化</a:t>
            </a:r>
            <a:endParaRPr lang="en-US" sz="1200" dirty="0"/>
          </a:p>
        </p:txBody>
      </p:sp>
      <p:sp>
        <p:nvSpPr>
          <p:cNvPr id="17" name="Text 10"/>
          <p:cNvSpPr/>
          <p:nvPr>
            <p:custDataLst>
              <p:tags r:id="rId17"/>
            </p:custDataLst>
          </p:nvPr>
        </p:nvSpPr>
        <p:spPr>
          <a:xfrm>
            <a:off x="6953250" y="3330575"/>
            <a:ext cx="1524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通过分析，发现初期软件处理速度略慢，经代码优化后，系统运行效率显著提升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r>
              <a:rPr lang="zh-CN" altLang="en-US" sz="10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还有存在不足的是仅靠蜂鸣器音质不是很好，有待提升。</a:t>
            </a:r>
            <a:endParaRPr lang="zh-CN" altLang="en-US" sz="10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18"/>
          <a:srcRect l="9302" r="9302"/>
          <a:stretch>
            <a:fillRect/>
          </a:stretch>
        </p:blipFill>
        <p:spPr>
          <a:xfrm>
            <a:off x="0" y="0"/>
            <a:ext cx="9144000" cy="680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6750" y="0"/>
            <a:ext cx="367665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测试结果</a:t>
            </a:r>
            <a:endParaRPr lang="en-US" sz="2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章节五: 项目优势与结论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666666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1095" r="11095"/>
          <a:stretch>
            <a:fillRect/>
          </a:stretch>
        </p:blipFill>
        <p:spPr>
          <a:xfrm>
            <a:off x="0" y="58420"/>
            <a:ext cx="9144000" cy="510984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71500" y="1543050"/>
            <a:ext cx="40386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865362" y="1582420"/>
            <a:ext cx="4092861" cy="1405437"/>
          </a:xfrm>
          <a:prstGeom prst="rect">
            <a:avLst/>
          </a:prstGeom>
        </p:spPr>
      </p:pic>
      <p:sp>
        <p:nvSpPr>
          <p:cNvPr id="8" name="Text 3"/>
          <p:cNvSpPr/>
          <p:nvPr>
            <p:custDataLst>
              <p:tags r:id="rId4"/>
            </p:custDataLst>
          </p:nvPr>
        </p:nvSpPr>
        <p:spPr>
          <a:xfrm>
            <a:off x="2195898" y="1838176"/>
            <a:ext cx="2497500" cy="251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双模式设计</a:t>
            </a:r>
            <a:endParaRPr 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4"/>
          <p:cNvSpPr/>
          <p:nvPr>
            <p:custDataLst>
              <p:tags r:id="rId5"/>
            </p:custDataLst>
          </p:nvPr>
        </p:nvSpPr>
        <p:spPr>
          <a:xfrm>
            <a:off x="2195830" y="2194560"/>
            <a:ext cx="3305175" cy="6502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创新采用播放与录音双模式，满足多样化需求，提升用户体验。</a:t>
            </a:r>
            <a:endParaRPr lang="en-US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865362" y="3063604"/>
            <a:ext cx="4092861" cy="1405437"/>
          </a:xfrm>
          <a:prstGeom prst="rect">
            <a:avLst/>
          </a:prstGeom>
        </p:spPr>
      </p:pic>
      <p:sp>
        <p:nvSpPr>
          <p:cNvPr id="14" name="Text 7"/>
          <p:cNvSpPr/>
          <p:nvPr>
            <p:custDataLst>
              <p:tags r:id="rId8"/>
            </p:custDataLst>
          </p:nvPr>
        </p:nvSpPr>
        <p:spPr>
          <a:xfrm>
            <a:off x="2195898" y="3284435"/>
            <a:ext cx="2497500" cy="251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实时中断处理</a:t>
            </a:r>
            <a:endParaRPr lang="en-US" sz="1600" b="1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8"/>
          <p:cNvSpPr/>
          <p:nvPr>
            <p:custDataLst>
              <p:tags r:id="rId9"/>
            </p:custDataLst>
          </p:nvPr>
        </p:nvSpPr>
        <p:spPr>
          <a:xfrm>
            <a:off x="2195830" y="3705225"/>
            <a:ext cx="3305175" cy="60134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精准响应用户操作，即时调整系统状态，确保操作连贯无延迟。</a:t>
            </a:r>
            <a:endParaRPr lang="en-US" sz="16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0"/>
          <a:srcRect l="9302" r="9302"/>
          <a:stretch>
            <a:fillRect/>
          </a:stretch>
        </p:blipFill>
        <p:spPr>
          <a:xfrm>
            <a:off x="0" y="0"/>
            <a:ext cx="9144000" cy="8178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0"/>
            <a:ext cx="3141345" cy="86487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项目创新点及关键技术</a:t>
            </a:r>
            <a:endParaRPr lang="en-US" sz="2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9302" r="9302"/>
          <a:stretch>
            <a:fillRect/>
          </a:stretch>
        </p:blipFill>
        <p:spPr>
          <a:xfrm>
            <a:off x="0" y="0"/>
            <a:ext cx="9144000" cy="8909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805" y="90805"/>
            <a:ext cx="80010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</a:t>
            </a:r>
            <a:endParaRPr lang="en-US" sz="2250" dirty="0"/>
          </a:p>
        </p:txBody>
      </p:sp>
      <p:sp>
        <p:nvSpPr>
          <p:cNvPr id="7" name="Text 3"/>
          <p:cNvSpPr/>
          <p:nvPr>
            <p:custDataLst>
              <p:tags r:id="rId2"/>
            </p:custDataLst>
          </p:nvPr>
        </p:nvSpPr>
        <p:spPr>
          <a:xfrm>
            <a:off x="433705" y="3336801"/>
            <a:ext cx="2413499" cy="2578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功能完备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3"/>
            </p:custDataLst>
          </p:nvPr>
        </p:nvSpPr>
        <p:spPr>
          <a:xfrm>
            <a:off x="433705" y="3633623"/>
            <a:ext cx="2413499" cy="46712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音乐系统功能齐全，满足了设计目标，提供了良好的用户体验。</a:t>
            </a:r>
            <a:endParaRPr 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5"/>
          <p:cNvSpPr/>
          <p:nvPr>
            <p:custDataLst>
              <p:tags r:id="rId4"/>
            </p:custDataLst>
          </p:nvPr>
        </p:nvSpPr>
        <p:spPr>
          <a:xfrm>
            <a:off x="433705" y="2057289"/>
            <a:ext cx="2413499" cy="2578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性能达标</a:t>
            </a:r>
            <a:endParaRPr lang="en-US" sz="1200" dirty="0"/>
          </a:p>
        </p:txBody>
      </p:sp>
      <p:sp>
        <p:nvSpPr>
          <p:cNvPr id="10" name="Text 6"/>
          <p:cNvSpPr/>
          <p:nvPr>
            <p:custDataLst>
              <p:tags r:id="rId5"/>
            </p:custDataLst>
          </p:nvPr>
        </p:nvSpPr>
        <p:spPr>
          <a:xfrm>
            <a:off x="433705" y="2354110"/>
            <a:ext cx="2413499" cy="46712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系统性能符合既定标准，稳定性和可靠性超出预期，确保了流畅的使用体验</a:t>
            </a: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Text 9"/>
          <p:cNvSpPr/>
          <p:nvPr>
            <p:custDataLst>
              <p:tags r:id="rId6"/>
            </p:custDataLst>
          </p:nvPr>
        </p:nvSpPr>
        <p:spPr>
          <a:xfrm>
            <a:off x="4426721" y="2161012"/>
            <a:ext cx="2413499" cy="2578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持续迭代测试</a:t>
            </a:r>
            <a:endParaRPr lang="en-US" sz="1200" dirty="0"/>
          </a:p>
        </p:txBody>
      </p:sp>
      <p:sp>
        <p:nvSpPr>
          <p:cNvPr id="14" name="Text 10"/>
          <p:cNvSpPr/>
          <p:nvPr>
            <p:custDataLst>
              <p:tags r:id="rId7"/>
            </p:custDataLst>
          </p:nvPr>
        </p:nvSpPr>
        <p:spPr>
          <a:xfrm>
            <a:off x="4426721" y="2457834"/>
            <a:ext cx="2413499" cy="46712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通过不断的迭代和测试，逐步完善产品，提升了整体品质</a:t>
            </a: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2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3"/>
          <p:cNvSpPr/>
          <p:nvPr>
            <p:custDataLst>
              <p:tags r:id="rId8"/>
            </p:custDataLst>
          </p:nvPr>
        </p:nvSpPr>
        <p:spPr>
          <a:xfrm>
            <a:off x="401320" y="1845310"/>
            <a:ext cx="1143635" cy="2139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543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600" b="1" dirty="0">
              <a:solidFill>
                <a:srgbClr val="5438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3"/>
          <p:cNvSpPr/>
          <p:nvPr>
            <p:custDataLst>
              <p:tags r:id="rId9"/>
            </p:custDataLst>
          </p:nvPr>
        </p:nvSpPr>
        <p:spPr>
          <a:xfrm>
            <a:off x="471805" y="3084195"/>
            <a:ext cx="1143635" cy="2139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543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600" b="1" dirty="0">
              <a:solidFill>
                <a:srgbClr val="5438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Text 3"/>
          <p:cNvSpPr/>
          <p:nvPr>
            <p:custDataLst>
              <p:tags r:id="rId10"/>
            </p:custDataLst>
          </p:nvPr>
        </p:nvSpPr>
        <p:spPr>
          <a:xfrm>
            <a:off x="4426585" y="1843405"/>
            <a:ext cx="1143635" cy="2139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543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600" b="1" dirty="0">
              <a:solidFill>
                <a:srgbClr val="5438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4" name="Text 3"/>
          <p:cNvSpPr/>
          <p:nvPr>
            <p:custDataLst>
              <p:tags r:id="rId11"/>
            </p:custDataLst>
          </p:nvPr>
        </p:nvSpPr>
        <p:spPr>
          <a:xfrm>
            <a:off x="4426585" y="3122930"/>
            <a:ext cx="1143635" cy="2139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5438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600" b="1" dirty="0">
              <a:solidFill>
                <a:srgbClr val="5438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6" name="Text 9"/>
          <p:cNvSpPr/>
          <p:nvPr>
            <p:custDataLst>
              <p:tags r:id="rId12"/>
            </p:custDataLst>
          </p:nvPr>
        </p:nvSpPr>
        <p:spPr>
          <a:xfrm>
            <a:off x="4426721" y="3298932"/>
            <a:ext cx="2413499" cy="2578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1690"/>
              </a:lnSpc>
              <a:buNone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不足之处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371975" y="3633470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音质没有得到提高，仅靠蜂鸣器无法实现高品质的音质。另外，在使用方面，由于小弹簧的缺失，无法很方便地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弹奏。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5438FF"/>
          </a:solid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98.28748031496062,&quot;left&quot;:85.5,&quot;top&quot;:221.06251968503938,&quot;width&quot;:549}"/>
</p:tagLst>
</file>

<file path=ppt/tags/tag2.xml><?xml version="1.0" encoding="utf-8"?>
<p:tagLst xmlns:p="http://schemas.openxmlformats.org/presentationml/2006/main">
  <p:tag name="KSO_WM_DIAGRAM_VIRTUALLY_FRAME" val="{&quot;height&quot;:98.28748031496062,&quot;left&quot;:85.5,&quot;top&quot;:221.06251968503938,&quot;width&quot;:549}"/>
</p:tagLst>
</file>

<file path=ppt/tags/tag3.xml><?xml version="1.0" encoding="utf-8"?>
<p:tagLst xmlns:p="http://schemas.openxmlformats.org/presentationml/2006/main">
  <p:tag name="KSO_WM_DIAGRAM_VIRTUALLY_FRAME" val="{&quot;height&quot;:98.28748031496062,&quot;left&quot;:85.5,&quot;top&quot;:221.06251968503938,&quot;width&quot;:549}"/>
</p:tagLst>
</file>

<file path=ppt/tags/tag4.xml><?xml version="1.0" encoding="utf-8"?>
<p:tagLst xmlns:p="http://schemas.openxmlformats.org/presentationml/2006/main">
  <p:tag name="KSO_WM_DIAGRAM_VIRTUALLY_FRAME" val="{&quot;height&quot;:98.28748031496062,&quot;left&quot;:85.5,&quot;top&quot;:221.06251968503938,&quot;width&quot;:549}"/>
</p:tagLst>
</file>

<file path=ppt/tags/tag5.xml><?xml version="1.0" encoding="utf-8"?>
<p:tagLst xmlns:p="http://schemas.openxmlformats.org/presentationml/2006/main">
  <p:tag name="KSO_WM_DIAGRAM_VIRTUALLY_FRAME" val="{&quot;height&quot;:98.28748031496062,&quot;left&quot;:85.5,&quot;top&quot;:221.06251968503938,&quot;width&quot;:549}"/>
</p:tagLst>
</file>

<file path=ppt/tags/tag6.xml><?xml version="1.0" encoding="utf-8"?>
<p:tagLst xmlns:p="http://schemas.openxmlformats.org/presentationml/2006/main">
  <p:tag name="KSO_WM_DIAGRAM_VIRTUALLY_FRAME" val="{&quot;height&quot;:98.28748031496062,&quot;left&quot;:85.5,&quot;top&quot;:221.06251968503938,&quot;width&quot;:549}"/>
</p:tagLst>
</file>

<file path=ppt/tags/tag7.xml><?xml version="1.0" encoding="utf-8"?>
<p:tagLst xmlns:p="http://schemas.openxmlformats.org/presentationml/2006/main">
  <p:tag name="KSO_WM_DIAGRAM_VIRTUALLY_FRAME" val="{&quot;height&quot;:98.28748031496062,&quot;left&quot;:85.5,&quot;top&quot;:221.06251968503938,&quot;width&quot;:549}"/>
</p:tagLst>
</file>

<file path=ppt/tags/tag8.xml><?xml version="1.0" encoding="utf-8"?>
<p:tagLst xmlns:p="http://schemas.openxmlformats.org/presentationml/2006/main">
  <p:tag name="KSO_WM_DIAGRAM_VIRTUALLY_FRAME" val="{&quot;height&quot;:98.28748031496062,&quot;left&quot;:85.5,&quot;top&quot;:221.06251968503938,&quot;width&quot;:549}"/>
</p:tagLst>
</file>

<file path=ppt/tags/tag9.xml><?xml version="1.0" encoding="utf-8"?>
<p:tagLst xmlns:p="http://schemas.openxmlformats.org/presentationml/2006/main">
  <p:tag name="KSO_WM_DIAGRAM_VIRTUALLY_FRAME" val="{&quot;height&quot;:98.28748031496062,&quot;left&quot;:85.5,&quot;top&quot;:221.06251968503938,&quot;width&quot;:549}"/>
</p:tagLst>
</file>

<file path=ppt/tags/tag10.xml><?xml version="1.0" encoding="utf-8"?>
<p:tagLst xmlns:p="http://schemas.openxmlformats.org/presentationml/2006/main">
  <p:tag name="KSO_WM_DIAGRAM_VIRTUALLY_FRAME" val="{&quot;height&quot;:98.28748031496062,&quot;left&quot;:85.5,&quot;top&quot;:221.06251968503938,&quot;width&quot;:549}"/>
</p:tagLst>
</file>

<file path=ppt/tags/tag11.xml><?xml version="1.0" encoding="utf-8"?>
<p:tagLst xmlns:p="http://schemas.openxmlformats.org/presentationml/2006/main">
  <p:tag name="KSO_WM_DIAGRAM_VIRTUALLY_FRAME" val="{&quot;height&quot;:98.28748031496062,&quot;left&quot;:85.5,&quot;top&quot;:221.06251968503938,&quot;width&quot;:549}"/>
</p:tagLst>
</file>

<file path=ppt/tags/tag12.xml><?xml version="1.0" encoding="utf-8"?>
<p:tagLst xmlns:p="http://schemas.openxmlformats.org/presentationml/2006/main">
  <p:tag name="KSO_WM_DIAGRAM_VIRTUALLY_FRAME" val="{&quot;height&quot;:98.28748031496062,&quot;left&quot;:85.5,&quot;top&quot;:221.06251968503938,&quot;width&quot;:549}"/>
</p:tagLst>
</file>

<file path=ppt/tags/tag13.xml><?xml version="1.0" encoding="utf-8"?>
<p:tagLst xmlns:p="http://schemas.openxmlformats.org/presentationml/2006/main">
  <p:tag name="KSO_WM_DIAGRAM_VIRTUALLY_FRAME" val="{&quot;height&quot;:254.65,&quot;left&quot;:8.9,&quot;top&quot;:119.15,&quot;width&quot;:687.75}"/>
</p:tagLst>
</file>

<file path=ppt/tags/tag14.xml><?xml version="1.0" encoding="utf-8"?>
<p:tagLst xmlns:p="http://schemas.openxmlformats.org/presentationml/2006/main">
  <p:tag name="KSO_WM_DIAGRAM_VIRTUALLY_FRAME" val="{&quot;height&quot;:254.65,&quot;left&quot;:8.9,&quot;top&quot;:119.15,&quot;width&quot;:687.75}"/>
</p:tagLst>
</file>

<file path=ppt/tags/tag15.xml><?xml version="1.0" encoding="utf-8"?>
<p:tagLst xmlns:p="http://schemas.openxmlformats.org/presentationml/2006/main">
  <p:tag name="KSO_WM_DIAGRAM_VIRTUALLY_FRAME" val="{&quot;height&quot;:254.65,&quot;left&quot;:8.9,&quot;top&quot;:119.15,&quot;width&quot;:687.75}"/>
</p:tagLst>
</file>

<file path=ppt/tags/tag16.xml><?xml version="1.0" encoding="utf-8"?>
<p:tagLst xmlns:p="http://schemas.openxmlformats.org/presentationml/2006/main">
  <p:tag name="KSO_WM_DIAGRAM_VIRTUALLY_FRAME" val="{&quot;height&quot;:254.65,&quot;left&quot;:8.9,&quot;top&quot;:119.15,&quot;width&quot;:687.75}"/>
</p:tagLst>
</file>

<file path=ppt/tags/tag17.xml><?xml version="1.0" encoding="utf-8"?>
<p:tagLst xmlns:p="http://schemas.openxmlformats.org/presentationml/2006/main">
  <p:tag name="KSO_WM_DIAGRAM_VIRTUALLY_FRAME" val="{&quot;height&quot;:254.65,&quot;left&quot;:8.9,&quot;top&quot;:119.15,&quot;width&quot;:687.75}"/>
</p:tagLst>
</file>

<file path=ppt/tags/tag18.xml><?xml version="1.0" encoding="utf-8"?>
<p:tagLst xmlns:p="http://schemas.openxmlformats.org/presentationml/2006/main">
  <p:tag name="KSO_WM_DIAGRAM_VIRTUALLY_FRAME" val="{&quot;height&quot;:254.65,&quot;left&quot;:8.9,&quot;top&quot;:119.15,&quot;width&quot;:687.75}"/>
</p:tagLst>
</file>

<file path=ppt/tags/tag19.xml><?xml version="1.0" encoding="utf-8"?>
<p:tagLst xmlns:p="http://schemas.openxmlformats.org/presentationml/2006/main">
  <p:tag name="KSO_WM_DIAGRAM_VIRTUALLY_FRAME" val="{&quot;height&quot;:254.65,&quot;left&quot;:8.9,&quot;top&quot;:119.15,&quot;width&quot;:687.75}"/>
</p:tagLst>
</file>

<file path=ppt/tags/tag20.xml><?xml version="1.0" encoding="utf-8"?>
<p:tagLst xmlns:p="http://schemas.openxmlformats.org/presentationml/2006/main">
  <p:tag name="KSO_WM_DIAGRAM_VIRTUALLY_FRAME" val="{&quot;height&quot;:254.65,&quot;left&quot;:8.9,&quot;top&quot;:119.15,&quot;width&quot;:687.75}"/>
</p:tagLst>
</file>

<file path=ppt/tags/tag21.xml><?xml version="1.0" encoding="utf-8"?>
<p:tagLst xmlns:p="http://schemas.openxmlformats.org/presentationml/2006/main">
  <p:tag name="KSO_WM_DIAGRAM_VIRTUALLY_FRAME" val="{&quot;height&quot;:254.65,&quot;left&quot;:8.9,&quot;top&quot;:119.15,&quot;width&quot;:687.75}"/>
</p:tagLst>
</file>

<file path=ppt/tags/tag22.xml><?xml version="1.0" encoding="utf-8"?>
<p:tagLst xmlns:p="http://schemas.openxmlformats.org/presentationml/2006/main">
  <p:tag name="KSO_WM_DIAGRAM_VIRTUALLY_FRAME" val="{&quot;height&quot;:674.6574770915702,&quot;left&quot;:19.76936492817713,&quot;top&quot;:-22.1,&quot;width&quot;:933.9306350718227}"/>
</p:tagLst>
</file>

<file path=ppt/tags/tag23.xml><?xml version="1.0" encoding="utf-8"?>
<p:tagLst xmlns:p="http://schemas.openxmlformats.org/presentationml/2006/main">
  <p:tag name="KSO_WM_DIAGRAM_VIRTUALLY_FRAME" val="{&quot;height&quot;:674.6574770915702,&quot;left&quot;:19.76936492817713,&quot;top&quot;:-22.1,&quot;width&quot;:933.9306350718227}"/>
</p:tagLst>
</file>

<file path=ppt/tags/tag24.xml><?xml version="1.0" encoding="utf-8"?>
<p:tagLst xmlns:p="http://schemas.openxmlformats.org/presentationml/2006/main">
  <p:tag name="KSO_WM_DIAGRAM_VIRTUALLY_FRAME" val="{&quot;height&quot;:674.6574770915702,&quot;left&quot;:19.76936492817713,&quot;top&quot;:-22.1,&quot;width&quot;:933.9306350718227}"/>
</p:tagLst>
</file>

<file path=ppt/tags/tag25.xml><?xml version="1.0" encoding="utf-8"?>
<p:tagLst xmlns:p="http://schemas.openxmlformats.org/presentationml/2006/main">
  <p:tag name="KSO_WM_DIAGRAM_VIRTUALLY_FRAME" val="{&quot;height&quot;:674.6574770915702,&quot;left&quot;:19.76936492817713,&quot;top&quot;:-22.1,&quot;width&quot;:933.9306350718227}"/>
</p:tagLst>
</file>

<file path=ppt/tags/tag26.xml><?xml version="1.0" encoding="utf-8"?>
<p:tagLst xmlns:p="http://schemas.openxmlformats.org/presentationml/2006/main">
  <p:tag name="KSO_WM_DIAGRAM_VIRTUALLY_FRAME" val="{&quot;height&quot;:674.6574770915702,&quot;left&quot;:19.76936492817713,&quot;top&quot;:-22.1,&quot;width&quot;:933.9306350718227}"/>
</p:tagLst>
</file>

<file path=ppt/tags/tag27.xml><?xml version="1.0" encoding="utf-8"?>
<p:tagLst xmlns:p="http://schemas.openxmlformats.org/presentationml/2006/main">
  <p:tag name="KSO_WM_DIAGRAM_VIRTUALLY_FRAME" val="{&quot;height&quot;:674.6574770915702,&quot;left&quot;:19.76936492817713,&quot;top&quot;:-22.1,&quot;width&quot;:933.9306350718227}"/>
</p:tagLst>
</file>

<file path=ppt/tags/tag28.xml><?xml version="1.0" encoding="utf-8"?>
<p:tagLst xmlns:p="http://schemas.openxmlformats.org/presentationml/2006/main">
  <p:tag name="KSO_WM_DIAGRAM_VIRTUALLY_FRAME" val="{&quot;height&quot;:674.6574770915702,&quot;left&quot;:19.76936492817713,&quot;top&quot;:-22.1,&quot;width&quot;:933.9306350718227}"/>
</p:tagLst>
</file>

<file path=ppt/tags/tag29.xml><?xml version="1.0" encoding="utf-8"?>
<p:tagLst xmlns:p="http://schemas.openxmlformats.org/presentationml/2006/main">
  <p:tag name="KSO_WM_DIAGRAM_VIRTUALLY_FRAME" val="{&quot;height&quot;:674.6574770915702,&quot;left&quot;:19.76936492817713,&quot;top&quot;:-22.1,&quot;width&quot;:933.9306350718227}"/>
</p:tagLst>
</file>

<file path=ppt/tags/tag30.xml><?xml version="1.0" encoding="utf-8"?>
<p:tagLst xmlns:p="http://schemas.openxmlformats.org/presentationml/2006/main">
  <p:tag name="KSO_WM_DIAGRAM_VIRTUALLY_FRAME" val="{&quot;height&quot;:674.6574770915702,&quot;left&quot;:19.76936492817713,&quot;top&quot;:-22.1,&quot;width&quot;:933.9306350718227}"/>
</p:tagLst>
</file>

<file path=ppt/tags/tag31.xml><?xml version="1.0" encoding="utf-8"?>
<p:tagLst xmlns:p="http://schemas.openxmlformats.org/presentationml/2006/main">
  <p:tag name="KSO_WM_DIAGRAM_VIRTUALLY_FRAME" val="{&quot;height&quot;:674.6574770915702,&quot;left&quot;:19.76936492817713,&quot;top&quot;:-22.1,&quot;width&quot;:933.9306350718227}"/>
</p:tagLst>
</file>

<file path=ppt/tags/tag32.xml><?xml version="1.0" encoding="utf-8"?>
<p:tagLst xmlns:p="http://schemas.openxmlformats.org/presentationml/2006/main">
  <p:tag name="KSO_WM_DIAGRAM_VIRTUALLY_FRAME" val="{&quot;height&quot;:674.6574770915702,&quot;left&quot;:19.76936492817713,&quot;top&quot;:-22.1,&quot;width&quot;:933.9306350718227}"/>
</p:tagLst>
</file>

<file path=ppt/tags/tag33.xml><?xml version="1.0" encoding="utf-8"?>
<p:tagLst xmlns:p="http://schemas.openxmlformats.org/presentationml/2006/main">
  <p:tag name="KSO_WM_DIAGRAM_VIRTUALLY_FRAME" val="{&quot;height&quot;:674.6574770915702,&quot;left&quot;:19.76936492817713,&quot;top&quot;:-22.1,&quot;width&quot;:933.9306350718227}"/>
</p:tagLst>
</file>

<file path=ppt/tags/tag34.xml><?xml version="1.0" encoding="utf-8"?>
<p:tagLst xmlns:p="http://schemas.openxmlformats.org/presentationml/2006/main">
  <p:tag name="KSO_WM_DIAGRAM_VIRTUALLY_FRAME" val="{&quot;height&quot;:674.6574770915702,&quot;left&quot;:19.76936492817713,&quot;top&quot;:-22.1,&quot;width&quot;:933.9306350718227}"/>
</p:tagLst>
</file>

<file path=ppt/tags/tag35.xml><?xml version="1.0" encoding="utf-8"?>
<p:tagLst xmlns:p="http://schemas.openxmlformats.org/presentationml/2006/main">
  <p:tag name="KSO_WM_DIAGRAM_VIRTUALLY_FRAME" val="{&quot;height&quot;:153.9,&quot;left&quot;:45,&quot;top&quot;:154.65,&quot;width&quot;:630}"/>
</p:tagLst>
</file>

<file path=ppt/tags/tag36.xml><?xml version="1.0" encoding="utf-8"?>
<p:tagLst xmlns:p="http://schemas.openxmlformats.org/presentationml/2006/main">
  <p:tag name="KSO_WM_DIAGRAM_VIRTUALLY_FRAME" val="{&quot;height&quot;:153.9,&quot;left&quot;:45,&quot;top&quot;:154.65,&quot;width&quot;:630}"/>
</p:tagLst>
</file>

<file path=ppt/tags/tag37.xml><?xml version="1.0" encoding="utf-8"?>
<p:tagLst xmlns:p="http://schemas.openxmlformats.org/presentationml/2006/main">
  <p:tag name="KSO_WM_DIAGRAM_VIRTUALLY_FRAME" val="{&quot;height&quot;:153.9,&quot;left&quot;:45,&quot;top&quot;:154.65,&quot;width&quot;:630}"/>
</p:tagLst>
</file>

<file path=ppt/tags/tag38.xml><?xml version="1.0" encoding="utf-8"?>
<p:tagLst xmlns:p="http://schemas.openxmlformats.org/presentationml/2006/main">
  <p:tag name="KSO_WM_DIAGRAM_VIRTUALLY_FRAME" val="{&quot;height&quot;:153.9,&quot;left&quot;:45,&quot;top&quot;:154.65,&quot;width&quot;:630}"/>
</p:tagLst>
</file>

<file path=ppt/tags/tag39.xml><?xml version="1.0" encoding="utf-8"?>
<p:tagLst xmlns:p="http://schemas.openxmlformats.org/presentationml/2006/main">
  <p:tag name="KSO_WM_DIAGRAM_VIRTUALLY_FRAME" val="{&quot;height&quot;:153.9,&quot;left&quot;:45,&quot;top&quot;:154.65,&quot;width&quot;:630}"/>
</p:tagLst>
</file>

<file path=ppt/tags/tag40.xml><?xml version="1.0" encoding="utf-8"?>
<p:tagLst xmlns:p="http://schemas.openxmlformats.org/presentationml/2006/main">
  <p:tag name="KSO_WM_DIAGRAM_VIRTUALLY_FRAME" val="{&quot;height&quot;:153.9,&quot;left&quot;:45,&quot;top&quot;:154.65,&quot;width&quot;:630}"/>
</p:tagLst>
</file>

<file path=ppt/tags/tag41.xml><?xml version="1.0" encoding="utf-8"?>
<p:tagLst xmlns:p="http://schemas.openxmlformats.org/presentationml/2006/main">
  <p:tag name="KSO_WM_DIAGRAM_VIRTUALLY_FRAME" val="{&quot;height&quot;:153.9,&quot;left&quot;:45,&quot;top&quot;:154.65,&quot;width&quot;:630}"/>
</p:tagLst>
</file>

<file path=ppt/tags/tag42.xml><?xml version="1.0" encoding="utf-8"?>
<p:tagLst xmlns:p="http://schemas.openxmlformats.org/presentationml/2006/main">
  <p:tag name="KSO_WM_DIAGRAM_VIRTUALLY_FRAME" val="{&quot;height&quot;:153.9,&quot;left&quot;:45,&quot;top&quot;:154.65,&quot;width&quot;:630}"/>
</p:tagLst>
</file>

<file path=ppt/tags/tag43.xml><?xml version="1.0" encoding="utf-8"?>
<p:tagLst xmlns:p="http://schemas.openxmlformats.org/presentationml/2006/main">
  <p:tag name="KSO_WM_DIAGRAM_VIRTUALLY_FRAME" val="{&quot;height&quot;:134.7,&quot;left&quot;:27.35,&quot;top&quot;:184.45,&quot;width&quot;:608.05}"/>
</p:tagLst>
</file>

<file path=ppt/tags/tag44.xml><?xml version="1.0" encoding="utf-8"?>
<p:tagLst xmlns:p="http://schemas.openxmlformats.org/presentationml/2006/main">
  <p:tag name="KSO_WM_DIAGRAM_VIRTUALLY_FRAME" val="{&quot;height&quot;:134.7,&quot;left&quot;:27.35,&quot;top&quot;:184.45,&quot;width&quot;:608.05}"/>
</p:tagLst>
</file>

<file path=ppt/tags/tag45.xml><?xml version="1.0" encoding="utf-8"?>
<p:tagLst xmlns:p="http://schemas.openxmlformats.org/presentationml/2006/main">
  <p:tag name="KSO_WM_DIAGRAM_VIRTUALLY_FRAME" val="{&quot;height&quot;:134.7,&quot;left&quot;:27.35,&quot;top&quot;:184.45,&quot;width&quot;:608.05}"/>
</p:tagLst>
</file>

<file path=ppt/tags/tag46.xml><?xml version="1.0" encoding="utf-8"?>
<p:tagLst xmlns:p="http://schemas.openxmlformats.org/presentationml/2006/main">
  <p:tag name="KSO_WM_DIAGRAM_VIRTUALLY_FRAME" val="{&quot;height&quot;:134.7,&quot;left&quot;:27.35,&quot;top&quot;:184.45,&quot;width&quot;:608.05}"/>
</p:tagLst>
</file>

<file path=ppt/tags/tag47.xml><?xml version="1.0" encoding="utf-8"?>
<p:tagLst xmlns:p="http://schemas.openxmlformats.org/presentationml/2006/main">
  <p:tag name="KSO_WM_DIAGRAM_VIRTUALLY_FRAME" val="{&quot;height&quot;:134.7,&quot;left&quot;:27.35,&quot;top&quot;:184.45,&quot;width&quot;:608.05}"/>
</p:tagLst>
</file>

<file path=ppt/tags/tag48.xml><?xml version="1.0" encoding="utf-8"?>
<p:tagLst xmlns:p="http://schemas.openxmlformats.org/presentationml/2006/main">
  <p:tag name="KSO_WM_DIAGRAM_VIRTUALLY_FRAME" val="{&quot;height&quot;:134.7,&quot;left&quot;:27.35,&quot;top&quot;:184.45,&quot;width&quot;:608.05}"/>
</p:tagLst>
</file>

<file path=ppt/tags/tag49.xml><?xml version="1.0" encoding="utf-8"?>
<p:tagLst xmlns:p="http://schemas.openxmlformats.org/presentationml/2006/main">
  <p:tag name="KSO_WM_DIAGRAM_VIRTUALLY_FRAME" val="{&quot;height&quot;:134.7,&quot;left&quot;:27.35,&quot;top&quot;:184.45,&quot;width&quot;:608.05}"/>
</p:tagLst>
</file>

<file path=ppt/tags/tag50.xml><?xml version="1.0" encoding="utf-8"?>
<p:tagLst xmlns:p="http://schemas.openxmlformats.org/presentationml/2006/main">
  <p:tag name="KSO_WM_DIAGRAM_VIRTUALLY_FRAME" val="{&quot;height&quot;:134.7,&quot;left&quot;:27.35,&quot;top&quot;:184.45,&quot;width&quot;:608.05}"/>
</p:tagLst>
</file>

<file path=ppt/tags/tag51.xml><?xml version="1.0" encoding="utf-8"?>
<p:tagLst xmlns:p="http://schemas.openxmlformats.org/presentationml/2006/main">
  <p:tag name="KSO_WM_DIAGRAM_VIRTUALLY_FRAME" val="{&quot;height&quot;:134.7,&quot;left&quot;:27.35,&quot;top&quot;:184.45,&quot;width&quot;:608.05}"/>
</p:tagLst>
</file>

<file path=ppt/tags/tag52.xml><?xml version="1.0" encoding="utf-8"?>
<p:tagLst xmlns:p="http://schemas.openxmlformats.org/presentationml/2006/main">
  <p:tag name="KSO_WM_DIAGRAM_VIRTUALLY_FRAME" val="{&quot;height&quot;:184.12503937007878,&quot;left&quot;:31.5,&quot;top&quot;:145.5,&quot;width&quot;:657}"/>
</p:tagLst>
</file>

<file path=ppt/tags/tag53.xml><?xml version="1.0" encoding="utf-8"?>
<p:tagLst xmlns:p="http://schemas.openxmlformats.org/presentationml/2006/main">
  <p:tag name="KSO_WM_DIAGRAM_VIRTUALLY_FRAME" val="{&quot;height&quot;:184.12503937007878,&quot;left&quot;:31.5,&quot;top&quot;:145.5,&quot;width&quot;:657}"/>
</p:tagLst>
</file>

<file path=ppt/tags/tag54.xml><?xml version="1.0" encoding="utf-8"?>
<p:tagLst xmlns:p="http://schemas.openxmlformats.org/presentationml/2006/main">
  <p:tag name="KSO_WM_DIAGRAM_VIRTUALLY_FRAME" val="{&quot;height&quot;:184.12503937007878,&quot;left&quot;:31.5,&quot;top&quot;:145.5,&quot;width&quot;:657}"/>
</p:tagLst>
</file>

<file path=ppt/tags/tag55.xml><?xml version="1.0" encoding="utf-8"?>
<p:tagLst xmlns:p="http://schemas.openxmlformats.org/presentationml/2006/main">
  <p:tag name="KSO_WM_DIAGRAM_VIRTUALLY_FRAME" val="{&quot;height&quot;:184.12503937007878,&quot;left&quot;:31.5,&quot;top&quot;:145.5,&quot;width&quot;:657}"/>
</p:tagLst>
</file>

<file path=ppt/tags/tag56.xml><?xml version="1.0" encoding="utf-8"?>
<p:tagLst xmlns:p="http://schemas.openxmlformats.org/presentationml/2006/main">
  <p:tag name="KSO_WM_DIAGRAM_VIRTUALLY_FRAME" val="{&quot;height&quot;:184.12503937007878,&quot;left&quot;:31.5,&quot;top&quot;:145.5,&quot;width&quot;:657}"/>
</p:tagLst>
</file>

<file path=ppt/tags/tag57.xml><?xml version="1.0" encoding="utf-8"?>
<p:tagLst xmlns:p="http://schemas.openxmlformats.org/presentationml/2006/main">
  <p:tag name="KSO_WM_DIAGRAM_VIRTUALLY_FRAME" val="{&quot;height&quot;:184.12503937007878,&quot;left&quot;:31.5,&quot;top&quot;:145.5,&quot;width&quot;:657}"/>
</p:tagLst>
</file>

<file path=ppt/tags/tag58.xml><?xml version="1.0" encoding="utf-8"?>
<p:tagLst xmlns:p="http://schemas.openxmlformats.org/presentationml/2006/main">
  <p:tag name="KSO_WM_DIAGRAM_VIRTUALLY_FRAME" val="{&quot;height&quot;:184.12503937007878,&quot;left&quot;:31.5,&quot;top&quot;:145.5,&quot;width&quot;:657}"/>
</p:tagLst>
</file>

<file path=ppt/tags/tag59.xml><?xml version="1.0" encoding="utf-8"?>
<p:tagLst xmlns:p="http://schemas.openxmlformats.org/presentationml/2006/main">
  <p:tag name="KSO_WM_DIAGRAM_VIRTUALLY_FRAME" val="{&quot;height&quot;:184.12503937007878,&quot;left&quot;:31.5,&quot;top&quot;:145.5,&quot;width&quot;:657}"/>
</p:tagLst>
</file>

<file path=ppt/tags/tag60.xml><?xml version="1.0" encoding="utf-8"?>
<p:tagLst xmlns:p="http://schemas.openxmlformats.org/presentationml/2006/main">
  <p:tag name="KSO_WM_DIAGRAM_VIRTUALLY_FRAME" val="{&quot;height&quot;:184.12503937007878,&quot;left&quot;:31.5,&quot;top&quot;:145.5,&quot;width&quot;:657}"/>
</p:tagLst>
</file>

<file path=ppt/tags/tag61.xml><?xml version="1.0" encoding="utf-8"?>
<p:tagLst xmlns:p="http://schemas.openxmlformats.org/presentationml/2006/main">
  <p:tag name="KSO_WM_DIAGRAM_VIRTUALLY_FRAME" val="{&quot;height&quot;:132,&quot;left&quot;:45,&quot;top&quot;:189,&quot;width&quot;:630}"/>
</p:tagLst>
</file>

<file path=ppt/tags/tag62.xml><?xml version="1.0" encoding="utf-8"?>
<p:tagLst xmlns:p="http://schemas.openxmlformats.org/presentationml/2006/main">
  <p:tag name="KSO_WM_DIAGRAM_VIRTUALLY_FRAME" val="{&quot;height&quot;:132,&quot;left&quot;:45,&quot;top&quot;:189,&quot;width&quot;:630}"/>
</p:tagLst>
</file>

<file path=ppt/tags/tag63.xml><?xml version="1.0" encoding="utf-8"?>
<p:tagLst xmlns:p="http://schemas.openxmlformats.org/presentationml/2006/main">
  <p:tag name="KSO_WM_DIAGRAM_VIRTUALLY_FRAME" val="{&quot;height&quot;:132,&quot;left&quot;:45,&quot;top&quot;:189,&quot;width&quot;:630}"/>
</p:tagLst>
</file>

<file path=ppt/tags/tag64.xml><?xml version="1.0" encoding="utf-8"?>
<p:tagLst xmlns:p="http://schemas.openxmlformats.org/presentationml/2006/main">
  <p:tag name="KSO_WM_DIAGRAM_VIRTUALLY_FRAME" val="{&quot;height&quot;:132,&quot;left&quot;:45,&quot;top&quot;:189,&quot;width&quot;:630}"/>
</p:tagLst>
</file>

<file path=ppt/tags/tag65.xml><?xml version="1.0" encoding="utf-8"?>
<p:tagLst xmlns:p="http://schemas.openxmlformats.org/presentationml/2006/main">
  <p:tag name="KSO_WM_DIAGRAM_VIRTUALLY_FRAME" val="{&quot;height&quot;:132,&quot;left&quot;:45,&quot;top&quot;:189,&quot;width&quot;:630}"/>
</p:tagLst>
</file>

<file path=ppt/tags/tag66.xml><?xml version="1.0" encoding="utf-8"?>
<p:tagLst xmlns:p="http://schemas.openxmlformats.org/presentationml/2006/main">
  <p:tag name="KSO_WM_DIAGRAM_VIRTUALLY_FRAME" val="{&quot;height&quot;:132,&quot;left&quot;:45,&quot;top&quot;:189,&quot;width&quot;:630}"/>
</p:tagLst>
</file>

<file path=ppt/tags/tag67.xml><?xml version="1.0" encoding="utf-8"?>
<p:tagLst xmlns:p="http://schemas.openxmlformats.org/presentationml/2006/main">
  <p:tag name="KSO_WM_DIAGRAM_VIRTUALLY_FRAME" val="{&quot;height&quot;:132,&quot;left&quot;:45,&quot;top&quot;:189,&quot;width&quot;:630}"/>
</p:tagLst>
</file>

<file path=ppt/tags/tag68.xml><?xml version="1.0" encoding="utf-8"?>
<p:tagLst xmlns:p="http://schemas.openxmlformats.org/presentationml/2006/main">
  <p:tag name="KSO_WM_DIAGRAM_VIRTUALLY_FRAME" val="{&quot;height&quot;:132,&quot;left&quot;:45,&quot;top&quot;:189,&quot;width&quot;:630}"/>
</p:tagLst>
</file>

<file path=ppt/tags/tag69.xml><?xml version="1.0" encoding="utf-8"?>
<p:tagLst xmlns:p="http://schemas.openxmlformats.org/presentationml/2006/main">
  <p:tag name="KSO_WM_DIAGRAM_VIRTUALLY_FRAME" val="{&quot;height&quot;:132,&quot;left&quot;:45,&quot;top&quot;:189,&quot;width&quot;:630}"/>
</p:tagLst>
</file>

<file path=ppt/tags/tag70.xml><?xml version="1.0" encoding="utf-8"?>
<p:tagLst xmlns:p="http://schemas.openxmlformats.org/presentationml/2006/main">
  <p:tag name="KSO_WM_DIAGRAM_VIRTUALLY_FRAME" val="{&quot;height&quot;:132,&quot;left&quot;:45,&quot;top&quot;:189,&quot;width&quot;:630}"/>
</p:tagLst>
</file>

<file path=ppt/tags/tag71.xml><?xml version="1.0" encoding="utf-8"?>
<p:tagLst xmlns:p="http://schemas.openxmlformats.org/presentationml/2006/main">
  <p:tag name="KSO_WM_DIAGRAM_VIRTUALLY_FRAME" val="{&quot;height&quot;:132,&quot;left&quot;:45,&quot;top&quot;:189,&quot;width&quot;:630}"/>
</p:tagLst>
</file>

<file path=ppt/tags/tag72.xml><?xml version="1.0" encoding="utf-8"?>
<p:tagLst xmlns:p="http://schemas.openxmlformats.org/presentationml/2006/main">
  <p:tag name="KSO_WM_DIAGRAM_VIRTUALLY_FRAME" val="{&quot;height&quot;:132,&quot;left&quot;:45,&quot;top&quot;:189,&quot;width&quot;:630}"/>
</p:tagLst>
</file>

<file path=ppt/tags/tag73.xml><?xml version="1.0" encoding="utf-8"?>
<p:tagLst xmlns:p="http://schemas.openxmlformats.org/presentationml/2006/main">
  <p:tag name="KSO_WM_DIAGRAM_VIRTUALLY_FRAME" val="{&quot;height&quot;:243.1,&quot;left&quot;:45,&quot;top&quot;:103.25,&quot;width&quot;:630}"/>
</p:tagLst>
</file>

<file path=ppt/tags/tag74.xml><?xml version="1.0" encoding="utf-8"?>
<p:tagLst xmlns:p="http://schemas.openxmlformats.org/presentationml/2006/main">
  <p:tag name="KSO_WM_DIAGRAM_VIRTUALLY_FRAME" val="{&quot;height&quot;:243.1,&quot;left&quot;:45,&quot;top&quot;:103.25,&quot;width&quot;:630}"/>
</p:tagLst>
</file>

<file path=ppt/tags/tag75.xml><?xml version="1.0" encoding="utf-8"?>
<p:tagLst xmlns:p="http://schemas.openxmlformats.org/presentationml/2006/main">
  <p:tag name="KSO_WM_DIAGRAM_VIRTUALLY_FRAME" val="{&quot;height&quot;:243.1,&quot;left&quot;:45,&quot;top&quot;:103.25,&quot;width&quot;:630}"/>
</p:tagLst>
</file>

<file path=ppt/tags/tag76.xml><?xml version="1.0" encoding="utf-8"?>
<p:tagLst xmlns:p="http://schemas.openxmlformats.org/presentationml/2006/main">
  <p:tag name="KSO_WM_DIAGRAM_VIRTUALLY_FRAME" val="{&quot;height&quot;:243.1,&quot;left&quot;:45,&quot;top&quot;:103.25,&quot;width&quot;:630}"/>
</p:tagLst>
</file>

<file path=ppt/tags/tag77.xml><?xml version="1.0" encoding="utf-8"?>
<p:tagLst xmlns:p="http://schemas.openxmlformats.org/presentationml/2006/main">
  <p:tag name="KSO_WM_DIAGRAM_VIRTUALLY_FRAME" val="{&quot;height&quot;:243.1,&quot;left&quot;:45,&quot;top&quot;:103.25,&quot;width&quot;:630}"/>
</p:tagLst>
</file>

<file path=ppt/tags/tag78.xml><?xml version="1.0" encoding="utf-8"?>
<p:tagLst xmlns:p="http://schemas.openxmlformats.org/presentationml/2006/main">
  <p:tag name="KSO_WM_DIAGRAM_VIRTUALLY_FRAME" val="{&quot;height&quot;:243.1,&quot;left&quot;:45,&quot;top&quot;:103.25,&quot;width&quot;:630}"/>
</p:tagLst>
</file>

<file path=ppt/tags/tag79.xml><?xml version="1.0" encoding="utf-8"?>
<p:tagLst xmlns:p="http://schemas.openxmlformats.org/presentationml/2006/main">
  <p:tag name="KSO_WM_DIAGRAM_VIRTUALLY_FRAME" val="{&quot;height&quot;:243.1,&quot;left&quot;:45,&quot;top&quot;:103.25,&quot;width&quot;:630}"/>
</p:tagLst>
</file>

<file path=ppt/tags/tag80.xml><?xml version="1.0" encoding="utf-8"?>
<p:tagLst xmlns:p="http://schemas.openxmlformats.org/presentationml/2006/main">
  <p:tag name="KSO_WM_DIAGRAM_VIRTUALLY_FRAME" val="{&quot;height&quot;:243.1,&quot;left&quot;:45,&quot;top&quot;:103.25,&quot;width&quot;:630}"/>
</p:tagLst>
</file>

<file path=ppt/tags/tag81.xml><?xml version="1.0" encoding="utf-8"?>
<p:tagLst xmlns:p="http://schemas.openxmlformats.org/presentationml/2006/main">
  <p:tag name="KSO_WM_DIAGRAM_VIRTUALLY_FRAME" val="{&quot;height&quot;:243.1,&quot;left&quot;:45,&quot;top&quot;:103.25,&quot;width&quot;:630}"/>
</p:tagLst>
</file>

<file path=ppt/tags/tag82.xml><?xml version="1.0" encoding="utf-8"?>
<p:tagLst xmlns:p="http://schemas.openxmlformats.org/presentationml/2006/main">
  <p:tag name="KSO_WM_DIAGRAM_VIRTUALLY_FRAME" val="{&quot;height&quot;:243.1,&quot;left&quot;:45,&quot;top&quot;:103.25,&quot;width&quot;:630}"/>
</p:tagLst>
</file>

<file path=ppt/tags/tag83.xml><?xml version="1.0" encoding="utf-8"?>
<p:tagLst xmlns:p="http://schemas.openxmlformats.org/presentationml/2006/main">
  <p:tag name="KSO_WM_DIAGRAM_VIRTUALLY_FRAME" val="{&quot;height&quot;:243.1,&quot;left&quot;:45,&quot;top&quot;:103.25,&quot;width&quot;:630}"/>
</p:tagLst>
</file>

<file path=ppt/tags/tag84.xml><?xml version="1.0" encoding="utf-8"?>
<p:tagLst xmlns:p="http://schemas.openxmlformats.org/presentationml/2006/main">
  <p:tag name="KSO_WM_DIAGRAM_VIRTUALLY_FRAME" val="{&quot;height&quot;:243.1,&quot;left&quot;:45,&quot;top&quot;:103.25,&quot;width&quot;:630}"/>
</p:tagLst>
</file>

<file path=ppt/tags/tag85.xml><?xml version="1.0" encoding="utf-8"?>
<p:tagLst xmlns:p="http://schemas.openxmlformats.org/presentationml/2006/main">
  <p:tag name="KSO_WM_DIAGRAM_VIRTUALLY_FRAME" val="{&quot;height&quot;:331.9930394431555,&quot;left&quot;:50.05,&quot;top&quot;:60.1,&quot;width&quot;:486}"/>
</p:tagLst>
</file>

<file path=ppt/tags/tag86.xml><?xml version="1.0" encoding="utf-8"?>
<p:tagLst xmlns:p="http://schemas.openxmlformats.org/presentationml/2006/main">
  <p:tag name="KSO_WM_DIAGRAM_VIRTUALLY_FRAME" val="{&quot;height&quot;:331.9930394431555,&quot;left&quot;:50.05,&quot;top&quot;:60.1,&quot;width&quot;:486}"/>
</p:tagLst>
</file>

<file path=ppt/tags/tag87.xml><?xml version="1.0" encoding="utf-8"?>
<p:tagLst xmlns:p="http://schemas.openxmlformats.org/presentationml/2006/main">
  <p:tag name="KSO_WM_DIAGRAM_VIRTUALLY_FRAME" val="{&quot;height&quot;:331.9930394431555,&quot;left&quot;:50.05,&quot;top&quot;:60.1,&quot;width&quot;:486}"/>
</p:tagLst>
</file>

<file path=ppt/tags/tag88.xml><?xml version="1.0" encoding="utf-8"?>
<p:tagLst xmlns:p="http://schemas.openxmlformats.org/presentationml/2006/main">
  <p:tag name="KSO_WM_DIAGRAM_VIRTUALLY_FRAME" val="{&quot;height&quot;:331.9930394431555,&quot;left&quot;:50.05,&quot;top&quot;:60.1,&quot;width&quot;:486}"/>
</p:tagLst>
</file>

<file path=ppt/tags/tag89.xml><?xml version="1.0" encoding="utf-8"?>
<p:tagLst xmlns:p="http://schemas.openxmlformats.org/presentationml/2006/main">
  <p:tag name="KSO_WM_DIAGRAM_VIRTUALLY_FRAME" val="{&quot;height&quot;:331.9930394431555,&quot;left&quot;:50.05,&quot;top&quot;:60.1,&quot;width&quot;:486}"/>
</p:tagLst>
</file>

<file path=ppt/tags/tag90.xml><?xml version="1.0" encoding="utf-8"?>
<p:tagLst xmlns:p="http://schemas.openxmlformats.org/presentationml/2006/main">
  <p:tag name="KSO_WM_DIAGRAM_VIRTUALLY_FRAME" val="{&quot;height&quot;:331.9930394431555,&quot;left&quot;:50.05,&quot;top&quot;:60.1,&quot;width&quot;:486}"/>
</p:tagLst>
</file>

<file path=ppt/tags/tag91.xml><?xml version="1.0" encoding="utf-8"?>
<p:tagLst xmlns:p="http://schemas.openxmlformats.org/presentationml/2006/main">
  <p:tag name="KSO_WM_DIAGRAM_VIRTUALLY_FRAME" val="{&quot;height&quot;:396.35,&quot;left&quot;:29.05,&quot;top&quot;:132.95,&quot;width&quot;:786.15}"/>
</p:tagLst>
</file>

<file path=ppt/tags/tag92.xml><?xml version="1.0" encoding="utf-8"?>
<p:tagLst xmlns:p="http://schemas.openxmlformats.org/presentationml/2006/main">
  <p:tag name="KSO_WM_DIAGRAM_VIRTUALLY_FRAME" val="{&quot;height&quot;:396.35,&quot;left&quot;:29.05,&quot;top&quot;:132.95,&quot;width&quot;:786.15}"/>
</p:tagLst>
</file>

<file path=ppt/tags/tag93.xml><?xml version="1.0" encoding="utf-8"?>
<p:tagLst xmlns:p="http://schemas.openxmlformats.org/presentationml/2006/main">
  <p:tag name="KSO_WM_DIAGRAM_VIRTUALLY_FRAME" val="{&quot;height&quot;:396.35,&quot;left&quot;:29.05,&quot;top&quot;:132.95,&quot;width&quot;:786.15}"/>
</p:tagLst>
</file>

<file path=ppt/tags/tag94.xml><?xml version="1.0" encoding="utf-8"?>
<p:tagLst xmlns:p="http://schemas.openxmlformats.org/presentationml/2006/main">
  <p:tag name="KSO_WM_DIAGRAM_VIRTUALLY_FRAME" val="{&quot;height&quot;:396.35,&quot;left&quot;:29.05,&quot;top&quot;:132.95,&quot;width&quot;:786.15}"/>
</p:tagLst>
</file>

<file path=ppt/tags/tag95.xml><?xml version="1.0" encoding="utf-8"?>
<p:tagLst xmlns:p="http://schemas.openxmlformats.org/presentationml/2006/main">
  <p:tag name="KSO_WM_DIAGRAM_VIRTUALLY_FRAME" val="{&quot;height&quot;:396.35,&quot;left&quot;:29.05,&quot;top&quot;:132.95,&quot;width&quot;:786.15}"/>
</p:tagLst>
</file>

<file path=ppt/tags/tag96.xml><?xml version="1.0" encoding="utf-8"?>
<p:tagLst xmlns:p="http://schemas.openxmlformats.org/presentationml/2006/main">
  <p:tag name="KSO_WM_DIAGRAM_VIRTUALLY_FRAME" val="{&quot;height&quot;:396.35,&quot;left&quot;:29.05,&quot;top&quot;:132.95,&quot;width&quot;:786.15}"/>
</p:tagLst>
</file>

<file path=ppt/tags/tag97.xml><?xml version="1.0" encoding="utf-8"?>
<p:tagLst xmlns:p="http://schemas.openxmlformats.org/presentationml/2006/main">
  <p:tag name="KSO_WM_DIAGRAM_VIRTUALLY_FRAME" val="{&quot;height&quot;:134.7,&quot;left&quot;:27.35,&quot;top&quot;:184.45,&quot;width&quot;:608.05}"/>
</p:tagLst>
</file>

<file path=ppt/tags/tag98.xml><?xml version="1.0" encoding="utf-8"?>
<p:tagLst xmlns:p="http://schemas.openxmlformats.org/presentationml/2006/main">
  <p:tag name="KSO_WM_DIAGRAM_VIRTUALLY_FRAME" val="{&quot;height&quot;:134.7,&quot;left&quot;:27.35,&quot;top&quot;:184.45,&quot;width&quot;:608.05}"/>
</p:tagLst>
</file>

<file path=ppt/tags/tag99.xml><?xml version="1.0" encoding="utf-8"?>
<p:tagLst xmlns:p="http://schemas.openxmlformats.org/presentationml/2006/main">
  <p:tag name="KSO_WM_DIAGRAM_VIRTUALLY_FRAME" val="{&quot;height&quot;:134.7,&quot;left&quot;:27.35,&quot;top&quot;:184.45,&quot;width&quot;:608.05}"/>
</p:tagLst>
</file>

<file path=ppt/tags/tag100.xml><?xml version="1.0" encoding="utf-8"?>
<p:tagLst xmlns:p="http://schemas.openxmlformats.org/presentationml/2006/main">
  <p:tag name="KSO_WM_DIAGRAM_VIRTUALLY_FRAME" val="{&quot;height&quot;:134.7,&quot;left&quot;:27.35,&quot;top&quot;:184.45,&quot;width&quot;:608.05}"/>
</p:tagLst>
</file>

<file path=ppt/tags/tag101.xml><?xml version="1.0" encoding="utf-8"?>
<p:tagLst xmlns:p="http://schemas.openxmlformats.org/presentationml/2006/main">
  <p:tag name="KSO_WM_DIAGRAM_VIRTUALLY_FRAME" val="{&quot;height&quot;:396.35,&quot;left&quot;:29.05,&quot;top&quot;:132.95,&quot;width&quot;:786.1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1959</Words>
  <Application>WPS 演示</Application>
  <PresentationFormat>On-screen Show (16:9)</PresentationFormat>
  <Paragraphs>283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27478</cp:lastModifiedBy>
  <cp:revision>8</cp:revision>
  <dcterms:created xsi:type="dcterms:W3CDTF">2025-07-14T13:05:00Z</dcterms:created>
  <dcterms:modified xsi:type="dcterms:W3CDTF">2025-08-11T04:00:02Z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7E9B935560204A2EBC10DEFDA80D4349_13</vt:lpwstr>
  </property>
  <property fmtid="{D5CDD505-2E9C-101B-9397-08002B2CF9AE}" pid="3" name="KSOProductBuildVer">
    <vt:lpwstr>2052-12.1.0.19770</vt:lpwstr>
  </property>
</Properties>
</file>